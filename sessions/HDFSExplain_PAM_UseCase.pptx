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51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77072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25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(BUSINESS ANALYTICS) · TRIMESTER IV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Managers of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4B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QuickKart's North Warehouse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340156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2E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NameNode High Availability &amp; ZooKeeper, told as a story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950208"/>
            <a:ext cx="822960" cy="45720"/>
          </a:xfrm>
          <a:prstGeom prst="rect">
            <a:avLst/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1828800" cy="502920"/>
          </a:xfrm>
          <a:prstGeom prst="roundRect">
            <a:avLst>
              <a:gd name="adj" fmla="val 50909"/>
            </a:avLst>
          </a:prstGeom>
          <a:solidFill>
            <a:srgbClr val="12233B"/>
          </a:solidFill>
          <a:ln w="19050">
            <a:solidFill>
              <a:srgbClr val="2E8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4343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80360" y="4343400"/>
            <a:ext cx="1828800" cy="502920"/>
          </a:xfrm>
          <a:prstGeom prst="roundRect">
            <a:avLst>
              <a:gd name="adj" fmla="val 50909"/>
            </a:avLst>
          </a:prstGeom>
          <a:solidFill>
            <a:srgbClr val="12233B"/>
          </a:solidFill>
          <a:ln w="19050">
            <a:solidFill>
              <a:srgbClr val="C08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880360" y="4343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937760" y="4343400"/>
            <a:ext cx="1828800" cy="502920"/>
          </a:xfrm>
          <a:prstGeom prst="roundRect">
            <a:avLst>
              <a:gd name="adj" fmla="val 50909"/>
            </a:avLst>
          </a:prstGeom>
          <a:solidFill>
            <a:srgbClr val="12233B"/>
          </a:solidFill>
          <a:ln w="19050">
            <a:solidFill>
              <a:srgbClr val="8B7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37760" y="4343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7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Meera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Instructor: Abhishek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Same warehouse world from Session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warehouse manager, one point of failure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QuickKart's North region warehouse runs on one manager, Priya. She's the only person who knows exactly which shelf holds which item — and that's about to become a problem.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468880"/>
            <a:ext cx="3108960" cy="3017520"/>
          </a:xfrm>
          <a:prstGeom prst="roundRect">
            <a:avLst>
              <a:gd name="adj" fmla="val 2727"/>
            </a:avLst>
          </a:prstGeom>
          <a:solidFill>
            <a:srgbClr val="12233B"/>
          </a:solidFill>
          <a:ln w="22225">
            <a:solidFill>
              <a:srgbClr val="2E8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22960" y="2468880"/>
            <a:ext cx="3108960" cy="502920"/>
          </a:xfrm>
          <a:prstGeom prst="roundRect">
            <a:avLst>
              <a:gd name="adj" fmla="val 16364"/>
            </a:avLst>
          </a:prstGeom>
          <a:solidFill>
            <a:srgbClr val="2E8B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22960" y="2715768"/>
            <a:ext cx="3108960" cy="256032"/>
          </a:xfrm>
          <a:prstGeom prst="rect">
            <a:avLst/>
          </a:prstGeom>
          <a:solidFill>
            <a:srgbClr val="2E8B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71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Priya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30906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the master ledger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05840" y="3456432"/>
            <a:ext cx="2743200" cy="384048"/>
          </a:xfrm>
          <a:prstGeom prst="roundRect">
            <a:avLst>
              <a:gd name="adj" fmla="val 14286"/>
            </a:avLst>
          </a:prstGeom>
          <a:solidFill>
            <a:srgbClr val="0F3A2C"/>
          </a:solidFill>
          <a:ln w="12700">
            <a:solidFill>
              <a:srgbClr val="3FB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345643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FB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SHIFT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3931920"/>
            <a:ext cx="2743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her ledger and tells workers where to go the moment a delivery truck needs loading.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80560" y="3291840"/>
            <a:ext cx="2011680" cy="1280160"/>
          </a:xfrm>
          <a:prstGeom prst="roundRect">
            <a:avLst>
              <a:gd name="adj" fmla="val 5714"/>
            </a:avLst>
          </a:prstGeom>
          <a:solidFill>
            <a:srgbClr val="0E1C30"/>
          </a:solidFill>
          <a:ln w="12700">
            <a:solidFill>
              <a:srgbClr val="2236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617720" y="3429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Priya's ledger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617720" y="37490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shelf holds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item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949440" y="2651760"/>
            <a:ext cx="1371600" cy="2651760"/>
          </a:xfrm>
          <a:prstGeom prst="roundRect">
            <a:avLst>
              <a:gd name="adj" fmla="val 4000"/>
            </a:avLst>
          </a:prstGeom>
          <a:solidFill>
            <a:srgbClr val="12233B"/>
          </a:solidFill>
          <a:ln w="12700">
            <a:solidFill>
              <a:srgbClr val="3FB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949440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1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732520" y="2651760"/>
            <a:ext cx="1371600" cy="2651760"/>
          </a:xfrm>
          <a:prstGeom prst="roundRect">
            <a:avLst>
              <a:gd name="adj" fmla="val 4000"/>
            </a:avLst>
          </a:prstGeom>
          <a:solidFill>
            <a:srgbClr val="12233B"/>
          </a:solidFill>
          <a:ln w="12700">
            <a:solidFill>
              <a:srgbClr val="3FB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732520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2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0515600" y="2651760"/>
            <a:ext cx="1371600" cy="2651760"/>
          </a:xfrm>
          <a:prstGeom prst="roundRect">
            <a:avLst>
              <a:gd name="adj" fmla="val 4000"/>
            </a:avLst>
          </a:prstGeom>
          <a:solidFill>
            <a:srgbClr val="12233B"/>
          </a:solidFill>
          <a:ln w="12700">
            <a:solidFill>
              <a:srgbClr val="3FB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515600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3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5806440"/>
            <a:ext cx="10698480" cy="777240"/>
          </a:xfrm>
          <a:prstGeom prst="rect">
            <a:avLst/>
          </a:prstGeom>
          <a:solidFill>
            <a:srgbClr val="0E1C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22960" y="5806440"/>
            <a:ext cx="54864" cy="777240"/>
          </a:xfrm>
          <a:prstGeom prst="rect">
            <a:avLst/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097280" y="593445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REAL TERMS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097280" y="6208776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Priya's ledger = the NameNode. The shelves = the DataNodes. This is exactly the mapping from Session 2 — nothing new yet.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SESSION 3 · THE TWO MANAGERS OF QUICKKART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14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1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One Tuesday morning...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Priya doesn't show up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She's not answering her phone. The shelves are all still full — nothing was lost — but nobody else knows how to read her ledger system.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468880"/>
            <a:ext cx="3108960" cy="3017520"/>
          </a:xfrm>
          <a:prstGeom prst="roundRect">
            <a:avLst>
              <a:gd name="adj" fmla="val 2727"/>
            </a:avLst>
          </a:prstGeom>
          <a:solidFill>
            <a:srgbClr val="12233B"/>
          </a:solidFill>
          <a:ln w="22225">
            <a:solidFill>
              <a:srgbClr val="E053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22960" y="2468880"/>
            <a:ext cx="3108960" cy="502920"/>
          </a:xfrm>
          <a:prstGeom prst="roundRect">
            <a:avLst>
              <a:gd name="adj" fmla="val 16364"/>
            </a:avLst>
          </a:prstGeom>
          <a:solidFill>
            <a:srgbClr val="E053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22960" y="2715768"/>
            <a:ext cx="3108960" cy="256032"/>
          </a:xfrm>
          <a:prstGeom prst="rect">
            <a:avLst/>
          </a:prstGeom>
          <a:solidFill>
            <a:srgbClr val="E053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71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Priya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30906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Unresponsive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05840" y="3456432"/>
            <a:ext cx="2743200" cy="384048"/>
          </a:xfrm>
          <a:prstGeom prst="roundRect">
            <a:avLst>
              <a:gd name="adj" fmla="val 14286"/>
            </a:avLst>
          </a:prstGeom>
          <a:solidFill>
            <a:srgbClr val="3A1A1A"/>
          </a:solidFill>
          <a:ln w="12700">
            <a:solidFill>
              <a:srgbClr val="E053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345643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3931920"/>
            <a:ext cx="2743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answering. Ledger is unreadable to anyone else.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80560" y="3291840"/>
            <a:ext cx="2011680" cy="1280160"/>
          </a:xfrm>
          <a:prstGeom prst="roundRect">
            <a:avLst>
              <a:gd name="adj" fmla="val 5714"/>
            </a:avLst>
          </a:prstGeom>
          <a:solidFill>
            <a:srgbClr val="3A1A1A"/>
          </a:solidFill>
          <a:ln w="12700">
            <a:solidFill>
              <a:srgbClr val="E053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617720" y="3429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3A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Priya's ledger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617720" y="3749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3C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Unreachable —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3C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else can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3C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949440" y="2651760"/>
            <a:ext cx="1371600" cy="2651760"/>
          </a:xfrm>
          <a:prstGeom prst="roundRect">
            <a:avLst>
              <a:gd name="adj" fmla="val 4000"/>
            </a:avLst>
          </a:prstGeom>
          <a:solidFill>
            <a:srgbClr val="12233B"/>
          </a:solidFill>
          <a:ln w="12700">
            <a:solidFill>
              <a:srgbClr val="3FB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949440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1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949440" y="4846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full ✓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732520" y="2651760"/>
            <a:ext cx="1371600" cy="2651760"/>
          </a:xfrm>
          <a:prstGeom prst="roundRect">
            <a:avLst>
              <a:gd name="adj" fmla="val 4000"/>
            </a:avLst>
          </a:prstGeom>
          <a:solidFill>
            <a:srgbClr val="12233B"/>
          </a:solidFill>
          <a:ln w="12700">
            <a:solidFill>
              <a:srgbClr val="3FB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732520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2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732520" y="4846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full 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515600" y="2651760"/>
            <a:ext cx="1371600" cy="2651760"/>
          </a:xfrm>
          <a:prstGeom prst="roundRect">
            <a:avLst>
              <a:gd name="adj" fmla="val 4000"/>
            </a:avLst>
          </a:prstGeom>
          <a:solidFill>
            <a:srgbClr val="12233B"/>
          </a:solidFill>
          <a:ln w="12700">
            <a:solidFill>
              <a:srgbClr val="3FB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515600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3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0515600" y="4846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full ✓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22960" y="5806440"/>
            <a:ext cx="10698480" cy="777240"/>
          </a:xfrm>
          <a:prstGeom prst="rect">
            <a:avLst/>
          </a:prstGeom>
          <a:solidFill>
            <a:srgbClr val="3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22960" y="5806440"/>
            <a:ext cx="54864" cy="777240"/>
          </a:xfrm>
          <a:prstGeom prst="rect">
            <a:avLst/>
          </a:prstGeom>
          <a:solidFill>
            <a:srgbClr val="E053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97280" y="593445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F3A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TRUCKS SIT IDLE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97280" y="6208776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shows “unable to process orders in North region” — even though every item customers want is physically sitting on a shelf ten feet away.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SESSION 3 · THE TWO MANAGERS OF QUICKKART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14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 SO FAR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Why this is different from a shelf failing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is fine. The knowledge of where it is isn't.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0515600" cy="1828800"/>
          </a:xfrm>
          <a:prstGeom prst="roundRect">
            <a:avLst>
              <a:gd name="adj" fmla="val 5000"/>
            </a:avLst>
          </a:prstGeom>
          <a:solidFill>
            <a:srgbClr val="0E1C30"/>
          </a:solidFill>
          <a:ln w="19050">
            <a:solidFill>
              <a:srgbClr val="E053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188720" y="2240280"/>
            <a:ext cx="9784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2000" i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what happens when a NameNode dies with no backup plan: the data is physically intact, but the map to find anything just vanished with one person.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41148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2233B"/>
          </a:solidFill>
          <a:ln w="19050">
            <a:solidFill>
              <a:srgbClr val="3FB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51560" y="42976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shelf goes missing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480060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Survivable — replication means the item exists on another shelf too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41148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2233B"/>
          </a:solidFill>
          <a:ln w="19050">
            <a:solidFill>
              <a:srgbClr val="E053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46520" y="42976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3A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manager goes missing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46520" y="480060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survivable by default — nobody else can read the ledger at all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SESSION 3 · THE TWO MANAGERS OF QUICKKART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FIX, PART 1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QuickKart hires a second manager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Arjun — the shadow manager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60350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◆"/>
            </a:pPr>
            <a:r>
              <a:rPr lang="en-US" sz="1550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in the same building, watching over Priya's shoulder all day, every day</a:t>
            </a:r>
            <a:endParaRPr lang="en-US" sz="1550" dirty="0"/>
          </a:p>
          <a:p>
            <a:pPr marL="228600" indent="-228600">
              <a:spcAft>
                <a:spcPts val="1200"/>
              </a:spcAft>
              <a:buSzPct val="100000"/>
              <a:buChar char="◆"/>
            </a:pPr>
            <a:r>
              <a:rPr lang="en-US" sz="1550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time Priya updates her ledger, Arjun copies that same update into his own ledger in real time</a:t>
            </a:r>
            <a:endParaRPr lang="en-US" sz="1550" dirty="0"/>
          </a:p>
          <a:p>
            <a:pPr marL="228600" indent="-228600">
              <a:spcAft>
                <a:spcPts val="1200"/>
              </a:spcAft>
              <a:buSzPct val="100000"/>
              <a:buChar char="◆"/>
            </a:pPr>
            <a:r>
              <a:rPr lang="en-US" sz="1550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never makes decisions himself, never talks to the delivery trucks</a:t>
            </a:r>
            <a:endParaRPr lang="en-US" sz="1550" dirty="0"/>
          </a:p>
          <a:p>
            <a:pPr marL="228600" indent="-228600">
              <a:spcAft>
                <a:spcPts val="1200"/>
              </a:spcAft>
              <a:buSzPct val="100000"/>
              <a:buChar char="◆"/>
            </a:pPr>
            <a:r>
              <a:rPr lang="en-US" sz="1550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just silently stays perfectly in sync — ready to take over the instant something happens to Priya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949440" y="1737360"/>
            <a:ext cx="3200400" cy="4023360"/>
          </a:xfrm>
          <a:prstGeom prst="roundRect">
            <a:avLst>
              <a:gd name="adj" fmla="val 2571"/>
            </a:avLst>
          </a:prstGeom>
          <a:solidFill>
            <a:srgbClr val="12233B"/>
          </a:solidFill>
          <a:ln w="22225">
            <a:solidFill>
              <a:srgbClr val="C08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949440" y="1737360"/>
            <a:ext cx="3200400" cy="502920"/>
          </a:xfrm>
          <a:prstGeom prst="roundRect">
            <a:avLst>
              <a:gd name="adj" fmla="val 16364"/>
            </a:avLst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949440" y="1984248"/>
            <a:ext cx="3200400" cy="256032"/>
          </a:xfrm>
          <a:prstGeom prst="rect">
            <a:avLst/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49440" y="17373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71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Arjun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0" y="235915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Standby manager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132320" y="2724912"/>
            <a:ext cx="2834640" cy="384048"/>
          </a:xfrm>
          <a:prstGeom prst="roundRect">
            <a:avLst>
              <a:gd name="adj" fmla="val 14286"/>
            </a:avLst>
          </a:prstGeom>
          <a:solidFill>
            <a:srgbClr val="3A2E1A"/>
          </a:solidFill>
          <a:ln w="12700">
            <a:solidFill>
              <a:srgbClr val="C08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32320" y="27249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32320" y="3200400"/>
            <a:ext cx="283464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Copies every ledger update from Priya, in real time, but never speaks to a truck.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5806440"/>
            <a:ext cx="10698480" cy="777240"/>
          </a:xfrm>
          <a:prstGeom prst="rect">
            <a:avLst/>
          </a:prstGeom>
          <a:solidFill>
            <a:srgbClr val="0E1C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22960" y="5806440"/>
            <a:ext cx="54864" cy="777240"/>
          </a:xfrm>
          <a:prstGeom prst="rect">
            <a:avLst/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97280" y="593445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REAL TERMS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97280" y="6208776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 = the Standby NameNode. He mirrors metadata continuously but never serves client requests until he's promoted.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SESSION 3 · THE TWO MANAGERS OF QUICKKART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FIX, PART 1 (CONTINUED)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How the copying actually happens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shared logbook between them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 and Arjun don't just trust each other's memory — every update passes through a shared logbook, kept in triplicate across three separate rooms, so even losing one copy doesn't lose the updates.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651760"/>
            <a:ext cx="2651760" cy="2468880"/>
          </a:xfrm>
          <a:prstGeom prst="roundRect">
            <a:avLst>
              <a:gd name="adj" fmla="val 3333"/>
            </a:avLst>
          </a:prstGeom>
          <a:solidFill>
            <a:srgbClr val="12233B"/>
          </a:solidFill>
          <a:ln w="22225">
            <a:solidFill>
              <a:srgbClr val="2E8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2651760" cy="502920"/>
          </a:xfrm>
          <a:prstGeom prst="roundRect">
            <a:avLst>
              <a:gd name="adj" fmla="val 16364"/>
            </a:avLst>
          </a:prstGeom>
          <a:solidFill>
            <a:srgbClr val="2E8B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22960" y="2898648"/>
            <a:ext cx="2651760" cy="256032"/>
          </a:xfrm>
          <a:prstGeom prst="rect">
            <a:avLst/>
          </a:prstGeom>
          <a:solidFill>
            <a:srgbClr val="2E8B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26517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71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Priya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3273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05840" y="3639312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0F3A2C"/>
          </a:solidFill>
          <a:ln w="12700">
            <a:solidFill>
              <a:srgbClr val="3FB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36393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FB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0" y="2651760"/>
            <a:ext cx="2651760" cy="2468880"/>
          </a:xfrm>
          <a:prstGeom prst="roundRect">
            <a:avLst>
              <a:gd name="adj" fmla="val 3333"/>
            </a:avLst>
          </a:prstGeom>
          <a:solidFill>
            <a:srgbClr val="12233B"/>
          </a:solidFill>
          <a:ln w="22225">
            <a:solidFill>
              <a:srgbClr val="C08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686800" y="2651760"/>
            <a:ext cx="2651760" cy="502920"/>
          </a:xfrm>
          <a:prstGeom prst="roundRect">
            <a:avLst>
              <a:gd name="adj" fmla="val 16364"/>
            </a:avLst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686800" y="2898648"/>
            <a:ext cx="2651760" cy="256032"/>
          </a:xfrm>
          <a:prstGeom prst="rect">
            <a:avLst/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0" y="26517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71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Arjun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69680" y="3273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Standby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869680" y="3639312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3A2E1A"/>
          </a:solidFill>
          <a:ln w="12700">
            <a:solidFill>
              <a:srgbClr val="C08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869680" y="36393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977640" y="3200400"/>
            <a:ext cx="1097280" cy="1188720"/>
          </a:xfrm>
          <a:prstGeom prst="roundRect">
            <a:avLst>
              <a:gd name="adj" fmla="val 5000"/>
            </a:avLst>
          </a:prstGeom>
          <a:solidFill>
            <a:srgbClr val="12233B"/>
          </a:solidFill>
          <a:ln w="12700">
            <a:solidFill>
              <a:srgbClr val="2E8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977640" y="33375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977640" y="3657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0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257800" y="3200400"/>
            <a:ext cx="1097280" cy="1188720"/>
          </a:xfrm>
          <a:prstGeom prst="roundRect">
            <a:avLst>
              <a:gd name="adj" fmla="val 5000"/>
            </a:avLst>
          </a:prstGeom>
          <a:solidFill>
            <a:srgbClr val="12233B"/>
          </a:solidFill>
          <a:ln w="12700">
            <a:solidFill>
              <a:srgbClr val="2E8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257800" y="33375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257800" y="3657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0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537960" y="3200400"/>
            <a:ext cx="1097280" cy="1188720"/>
          </a:xfrm>
          <a:prstGeom prst="roundRect">
            <a:avLst>
              <a:gd name="adj" fmla="val 5000"/>
            </a:avLst>
          </a:prstGeom>
          <a:solidFill>
            <a:srgbClr val="12233B"/>
          </a:solidFill>
          <a:ln w="12700">
            <a:solidFill>
              <a:srgbClr val="2E8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537960" y="33375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37960" y="3657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0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566160" y="45720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JournalNode quorum (×3 rooms)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22960" y="5806440"/>
            <a:ext cx="10698480" cy="777240"/>
          </a:xfrm>
          <a:prstGeom prst="rect">
            <a:avLst/>
          </a:prstGeom>
          <a:solidFill>
            <a:srgbClr val="0E1C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22960" y="5806440"/>
            <a:ext cx="54864" cy="777240"/>
          </a:xfrm>
          <a:prstGeom prst="rect">
            <a:avLst/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097280" y="593445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REAL TERMS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1097280" y="6208776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JournalNode quorum — usually 3 or 5 nodes in production — the shared edit log both NameNodes read and write to stay in sync.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SESSION 3 · THE TWO MANAGERS OF QUICKKART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14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Who decides Priya is really gone?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Arjun jumps in too early...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0515600" cy="1554480"/>
          </a:xfrm>
          <a:prstGeom prst="roundRect">
            <a:avLst>
              <a:gd name="adj" fmla="val 5882"/>
            </a:avLst>
          </a:prstGeom>
          <a:solidFill>
            <a:srgbClr val="3A2E1A"/>
          </a:solidFill>
          <a:ln w="19050">
            <a:solidFill>
              <a:srgbClr val="C08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188720" y="21488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700" i="1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 Priya actually gone, or just on a coffee break?” If Arjun self-promotes based on a guess, QuickKart now has two managers giving conflicting instructions to the same warehouse — chaos of a different kind.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371600" y="3794760"/>
            <a:ext cx="2926080" cy="2286000"/>
          </a:xfrm>
          <a:prstGeom prst="roundRect">
            <a:avLst>
              <a:gd name="adj" fmla="val 3600"/>
            </a:avLst>
          </a:prstGeom>
          <a:solidFill>
            <a:srgbClr val="12233B"/>
          </a:solidFill>
          <a:ln w="22225">
            <a:solidFill>
              <a:srgbClr val="2E8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71600" y="3794760"/>
            <a:ext cx="2926080" cy="502920"/>
          </a:xfrm>
          <a:prstGeom prst="roundRect">
            <a:avLst>
              <a:gd name="adj" fmla="val 16364"/>
            </a:avLst>
          </a:prstGeom>
          <a:solidFill>
            <a:srgbClr val="2E8B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371600" y="4041648"/>
            <a:ext cx="2926080" cy="256032"/>
          </a:xfrm>
          <a:prstGeom prst="rect">
            <a:avLst/>
          </a:prstGeom>
          <a:solidFill>
            <a:srgbClr val="2E8B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37947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71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Priya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44165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554480" y="4782312"/>
            <a:ext cx="2560320" cy="384048"/>
          </a:xfrm>
          <a:prstGeom prst="roundRect">
            <a:avLst>
              <a:gd name="adj" fmla="val 14286"/>
            </a:avLst>
          </a:prstGeom>
          <a:solidFill>
            <a:srgbClr val="3A2E1A"/>
          </a:solidFill>
          <a:ln w="12700">
            <a:solidFill>
              <a:srgbClr val="C08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554480" y="478231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AWAKE OR DOWN?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863840" y="3794760"/>
            <a:ext cx="2926080" cy="2286000"/>
          </a:xfrm>
          <a:prstGeom prst="roundRect">
            <a:avLst>
              <a:gd name="adj" fmla="val 3600"/>
            </a:avLst>
          </a:prstGeom>
          <a:solidFill>
            <a:srgbClr val="12233B"/>
          </a:solidFill>
          <a:ln w="22225">
            <a:solidFill>
              <a:srgbClr val="C08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863840" y="3794760"/>
            <a:ext cx="2926080" cy="502920"/>
          </a:xfrm>
          <a:prstGeom prst="roundRect">
            <a:avLst>
              <a:gd name="adj" fmla="val 16364"/>
            </a:avLst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863840" y="4041648"/>
            <a:ext cx="2926080" cy="256032"/>
          </a:xfrm>
          <a:prstGeom prst="rect">
            <a:avLst/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863840" y="37947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71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Arjun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046720" y="44165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46720" y="4782312"/>
            <a:ext cx="2560320" cy="384048"/>
          </a:xfrm>
          <a:prstGeom prst="roundRect">
            <a:avLst>
              <a:gd name="adj" fmla="val 14286"/>
            </a:avLst>
          </a:prstGeom>
          <a:solidFill>
            <a:srgbClr val="3A2E1A"/>
          </a:solidFill>
          <a:ln w="12700">
            <a:solidFill>
              <a:srgbClr val="C08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046720" y="478231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NOW?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480560" y="47091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3A6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⚡ Conflicting instructions ⚡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SESSION 3 · THE TWO MANAGERS OF QUICKKART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14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FIX, PART 2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QuickKart hires a building supervisor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Meera — the referee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60350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◆"/>
            </a:pPr>
            <a:r>
              <a:rPr lang="en-US" sz="1550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manage inventory. Doesn't touch the ledger.</a:t>
            </a:r>
            <a:endParaRPr lang="en-US" sz="1550" dirty="0"/>
          </a:p>
          <a:p>
            <a:pPr marL="228600" indent="-228600">
              <a:spcAft>
                <a:spcPts val="1200"/>
              </a:spcAft>
              <a:buSzPct val="100000"/>
              <a:buChar char="◆"/>
            </a:pPr>
            <a:r>
              <a:rPr lang="en-US" sz="1550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entire job: check in on Priya every few seconds</a:t>
            </a:r>
            <a:endParaRPr lang="en-US" sz="1550" dirty="0"/>
          </a:p>
          <a:p>
            <a:pPr marL="228600" indent="-228600">
              <a:spcAft>
                <a:spcPts val="1200"/>
              </a:spcAft>
              <a:buSzPct val="100000"/>
              <a:buChar char="◆"/>
            </a:pPr>
            <a:r>
              <a:rPr lang="en-US" sz="1550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“Priya, you good?” — “Yes” — “okay, carry on” — repeat</a:t>
            </a:r>
            <a:endParaRPr lang="en-US" sz="1550" dirty="0"/>
          </a:p>
          <a:p>
            <a:pPr marL="228600" indent="-228600">
              <a:spcAft>
                <a:spcPts val="1200"/>
              </a:spcAft>
              <a:buSzPct val="100000"/>
              <a:buChar char="◆"/>
            </a:pPr>
            <a:r>
              <a:rPr lang="en-US" sz="1550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 Priya stops responding for real, Meera makes the call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949440" y="1737360"/>
            <a:ext cx="3200400" cy="4023360"/>
          </a:xfrm>
          <a:prstGeom prst="roundRect">
            <a:avLst>
              <a:gd name="adj" fmla="val 2571"/>
            </a:avLst>
          </a:prstGeom>
          <a:solidFill>
            <a:srgbClr val="12233B"/>
          </a:solidFill>
          <a:ln w="22225">
            <a:solidFill>
              <a:srgbClr val="8B7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949440" y="1737360"/>
            <a:ext cx="3200400" cy="502920"/>
          </a:xfrm>
          <a:prstGeom prst="roundRect">
            <a:avLst>
              <a:gd name="adj" fmla="val 16364"/>
            </a:avLst>
          </a:prstGeom>
          <a:solidFill>
            <a:srgbClr val="8B72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949440" y="1984248"/>
            <a:ext cx="3200400" cy="256032"/>
          </a:xfrm>
          <a:prstGeom prst="rect">
            <a:avLst/>
          </a:prstGeom>
          <a:solidFill>
            <a:srgbClr val="8B72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49440" y="17373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71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Meera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0" y="235915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supervisor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132320" y="2724912"/>
            <a:ext cx="2834640" cy="384048"/>
          </a:xfrm>
          <a:prstGeom prst="roundRect">
            <a:avLst>
              <a:gd name="adj" fmla="val 14286"/>
            </a:avLst>
          </a:prstGeom>
          <a:solidFill>
            <a:srgbClr val="2A2148"/>
          </a:solidFill>
          <a:ln w="12700">
            <a:solidFill>
              <a:srgbClr val="8B7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32320" y="27249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32320" y="3200400"/>
            <a:ext cx="283464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between Priya and Arjun on a timer, checking health — never manages inventory herself.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5806440"/>
            <a:ext cx="10698480" cy="777240"/>
          </a:xfrm>
          <a:prstGeom prst="rect">
            <a:avLst/>
          </a:prstGeom>
          <a:solidFill>
            <a:srgbClr val="0E1C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22960" y="5806440"/>
            <a:ext cx="54864" cy="777240"/>
          </a:xfrm>
          <a:prstGeom prst="rect">
            <a:avLst/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97280" y="593445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REAL TERMS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97280" y="6208776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Meera = ZooKeeper. A neutral, trusted coordination service that both NameNodes agree to defer to — solving the “who decides” problem from the last slide.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SESSION 3 · THE TWO MANAGERS OF QUICKKART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14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 IT MATTERS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Detection → Lockout → Failover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Meera calls it, in seconds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94560"/>
            <a:ext cx="2423160" cy="3291840"/>
          </a:xfrm>
          <a:prstGeom prst="roundRect">
            <a:avLst>
              <a:gd name="adj" fmla="val 3019"/>
            </a:avLst>
          </a:prstGeom>
          <a:solidFill>
            <a:srgbClr val="0E1C30"/>
          </a:solidFill>
          <a:ln w="19050">
            <a:solidFill>
              <a:srgbClr val="2E8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760220" y="2423160"/>
            <a:ext cx="548640" cy="548640"/>
          </a:xfrm>
          <a:prstGeom prst="ellipse">
            <a:avLst/>
          </a:prstGeom>
          <a:solidFill>
            <a:srgbClr val="2E8B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7602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71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31546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Meera checks in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38862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“Priya, you there?” — silence.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46120" y="3566160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474720" y="2194560"/>
            <a:ext cx="2423160" cy="3291840"/>
          </a:xfrm>
          <a:prstGeom prst="roundRect">
            <a:avLst>
              <a:gd name="adj" fmla="val 3019"/>
            </a:avLst>
          </a:prstGeom>
          <a:solidFill>
            <a:srgbClr val="0E1C30"/>
          </a:solidFill>
          <a:ln w="19050">
            <a:solidFill>
              <a:srgbClr val="C08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411980" y="2423160"/>
            <a:ext cx="548640" cy="548640"/>
          </a:xfrm>
          <a:prstGeom prst="ellipse">
            <a:avLst/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41198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71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11880" y="31546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Meera confirms failure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11880" y="38862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response. This is real, not a pause.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3566160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126480" y="2194560"/>
            <a:ext cx="2423160" cy="3291840"/>
          </a:xfrm>
          <a:prstGeom prst="roundRect">
            <a:avLst>
              <a:gd name="adj" fmla="val 3019"/>
            </a:avLst>
          </a:prstGeom>
          <a:solidFill>
            <a:srgbClr val="0E1C30"/>
          </a:solidFill>
          <a:ln w="19050">
            <a:solidFill>
              <a:srgbClr val="E053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063740" y="2423160"/>
            <a:ext cx="548640" cy="548640"/>
          </a:xfrm>
          <a:prstGeom prst="ellipse">
            <a:avLst/>
          </a:prstGeom>
          <a:solidFill>
            <a:srgbClr val="E053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06374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71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263640" y="31546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Meera locks Priya out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63640" y="38862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she can't cause conflicts if she wakes up.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9640" y="3566160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778240" y="2194560"/>
            <a:ext cx="2423160" cy="3291840"/>
          </a:xfrm>
          <a:prstGeom prst="roundRect">
            <a:avLst>
              <a:gd name="adj" fmla="val 3019"/>
            </a:avLst>
          </a:prstGeom>
          <a:solidFill>
            <a:srgbClr val="0E1C30"/>
          </a:solidFill>
          <a:ln w="19050">
            <a:solidFill>
              <a:srgbClr val="3FB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715500" y="2423160"/>
            <a:ext cx="548640" cy="548640"/>
          </a:xfrm>
          <a:prstGeom prst="ellipse">
            <a:avLst/>
          </a:prstGeom>
          <a:solidFill>
            <a:srgbClr val="3FBF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71550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71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8915400" y="31546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Meera promotes Arjun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915400" y="38862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“You're active now.”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2960" y="5806440"/>
            <a:ext cx="10698480" cy="777240"/>
          </a:xfrm>
          <a:prstGeom prst="rect">
            <a:avLst/>
          </a:prstGeom>
          <a:solidFill>
            <a:srgbClr val="0F3A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22960" y="5806440"/>
            <a:ext cx="54864" cy="777240"/>
          </a:xfrm>
          <a:prstGeom prst="rect">
            <a:avLst/>
          </a:prstGeom>
          <a:solidFill>
            <a:srgbClr val="3FBF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097280" y="593445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8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097280" y="6208776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trucks start moving again. Most customers never even notice anything happened.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SESSION 3 · THE TWO MANAGERS OF QUICKKART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14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SUBTLE PART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Why locking Priya out matters as much as promoting Arjun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Split-brain: the failure mode most people miss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Priya suddenly wakes back up, unaware Arjun took over, and tries to answer a truck's question at the exact same time as him?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188720" y="2560320"/>
            <a:ext cx="3291840" cy="2468880"/>
          </a:xfrm>
          <a:prstGeom prst="roundRect">
            <a:avLst>
              <a:gd name="adj" fmla="val 3333"/>
            </a:avLst>
          </a:prstGeom>
          <a:solidFill>
            <a:srgbClr val="12233B"/>
          </a:solidFill>
          <a:ln w="22225">
            <a:solidFill>
              <a:srgbClr val="2E8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88720" y="2560320"/>
            <a:ext cx="3291840" cy="502920"/>
          </a:xfrm>
          <a:prstGeom prst="roundRect">
            <a:avLst>
              <a:gd name="adj" fmla="val 16364"/>
            </a:avLst>
          </a:prstGeom>
          <a:solidFill>
            <a:srgbClr val="2E8B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188720" y="2807208"/>
            <a:ext cx="3291840" cy="256032"/>
          </a:xfrm>
          <a:prstGeom prst="rect">
            <a:avLst/>
          </a:prstGeom>
          <a:solidFill>
            <a:srgbClr val="2E8B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88720" y="25603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71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Priya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318211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Woke up, doesn't know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371600" y="3547872"/>
            <a:ext cx="2926080" cy="384048"/>
          </a:xfrm>
          <a:prstGeom prst="roundRect">
            <a:avLst>
              <a:gd name="adj" fmla="val 14286"/>
            </a:avLst>
          </a:prstGeom>
          <a:solidFill>
            <a:srgbClr val="3A1A1A"/>
          </a:solidFill>
          <a:ln w="12700">
            <a:solidFill>
              <a:srgbClr val="E053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371600" y="354787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TRYING TO ANSWER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680960" y="2560320"/>
            <a:ext cx="3291840" cy="2468880"/>
          </a:xfrm>
          <a:prstGeom prst="roundRect">
            <a:avLst>
              <a:gd name="adj" fmla="val 3333"/>
            </a:avLst>
          </a:prstGeom>
          <a:solidFill>
            <a:srgbClr val="12233B"/>
          </a:solidFill>
          <a:ln w="22225">
            <a:solidFill>
              <a:srgbClr val="C08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680960" y="2560320"/>
            <a:ext cx="3291840" cy="502920"/>
          </a:xfrm>
          <a:prstGeom prst="roundRect">
            <a:avLst>
              <a:gd name="adj" fmla="val 16364"/>
            </a:avLst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680960" y="2807208"/>
            <a:ext cx="3291840" cy="256032"/>
          </a:xfrm>
          <a:prstGeom prst="rect">
            <a:avLst/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680960" y="25603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71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Arjun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863840" y="318211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active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863840" y="3547872"/>
            <a:ext cx="2926080" cy="384048"/>
          </a:xfrm>
          <a:prstGeom prst="roundRect">
            <a:avLst>
              <a:gd name="adj" fmla="val 14286"/>
            </a:avLst>
          </a:prstGeom>
          <a:solidFill>
            <a:srgbClr val="3A1A1A"/>
          </a:solidFill>
          <a:ln w="12700">
            <a:solidFill>
              <a:srgbClr val="E053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863840" y="354787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ANSWERING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63440" y="301752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b="1" i="1" dirty="0">
                <a:solidFill>
                  <a:srgbClr val="F3A6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question.</a:t>
            </a:r>
            <a:endParaRPr lang="en-US" sz="16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b="1" i="1" dirty="0">
                <a:solidFill>
                  <a:srgbClr val="F3A6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different answers.</a:t>
            </a:r>
            <a:endParaRPr lang="en-US" sz="16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b="1" i="1" dirty="0">
                <a:solidFill>
                  <a:srgbClr val="F3A6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one is right?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22960" y="5349240"/>
            <a:ext cx="10698480" cy="1234440"/>
          </a:xfrm>
          <a:prstGeom prst="rect">
            <a:avLst/>
          </a:prstGeom>
          <a:solidFill>
            <a:srgbClr val="3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22960" y="5349240"/>
            <a:ext cx="54864" cy="1234440"/>
          </a:xfrm>
          <a:prstGeom prst="rect">
            <a:avLst/>
          </a:prstGeom>
          <a:solidFill>
            <a:srgbClr val="E053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097280" y="547725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F3A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MEERA DOESN'T JUST PROMOTE — SHE FENCES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97280" y="5751576"/>
            <a:ext cx="101498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Meera didn't only tell Arjun “you're active.” She also actively locked Priya out. Promotion alone isn't enough — the old active has to be forcibly silenced, or split-brain like this becomes possible.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SESSION 3 · THE TWO MANAGERS OF QUICKKART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PICTURE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Everyone, in their final roles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NameNode High Availability, end to end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937760" y="173736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2A2148"/>
          </a:solidFill>
          <a:ln w="19050">
            <a:solidFill>
              <a:srgbClr val="8B7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937760" y="17373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2C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Meera</a:t>
            </a:r>
            <a:endParaRPr lang="en-US" sz="13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2C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(ZooKeeper)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0" y="2514600"/>
            <a:ext cx="0" cy="502920"/>
          </a:xfrm>
          <a:prstGeom prst="line">
            <a:avLst/>
          </a:prstGeom>
          <a:noFill/>
          <a:ln w="15875">
            <a:solidFill>
              <a:srgbClr val="93A8C0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080760" y="2514600"/>
            <a:ext cx="1828800" cy="502920"/>
          </a:xfrm>
          <a:prstGeom prst="line">
            <a:avLst/>
          </a:prstGeom>
          <a:noFill/>
          <a:ln w="15875">
            <a:solidFill>
              <a:srgbClr val="93A8C0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737360" y="306324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0F3A2C"/>
          </a:solidFill>
          <a:ln w="19050">
            <a:solidFill>
              <a:srgbClr val="3FB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737360" y="30632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8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</a:t>
            </a:r>
            <a:endParaRPr lang="en-US" sz="12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8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(Active NameNode)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863840" y="306324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3A2E1A"/>
          </a:solidFill>
          <a:ln w="19050">
            <a:solidFill>
              <a:srgbClr val="C08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863840" y="30632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</a:t>
            </a:r>
            <a:endParaRPr lang="en-US" sz="12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(Standby NameNode)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54880" y="3200400"/>
            <a:ext cx="2651760" cy="548640"/>
          </a:xfrm>
          <a:prstGeom prst="roundRect">
            <a:avLst>
              <a:gd name="adj" fmla="val 10000"/>
            </a:avLst>
          </a:prstGeom>
          <a:solidFill>
            <a:srgbClr val="12233B"/>
          </a:solidFill>
          <a:ln w="12700">
            <a:solidFill>
              <a:srgbClr val="2E8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5488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logbook (JournalNodes)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0" y="3456432"/>
            <a:ext cx="640080" cy="0"/>
          </a:xfrm>
          <a:prstGeom prst="line">
            <a:avLst/>
          </a:prstGeom>
          <a:noFill/>
          <a:ln w="15875">
            <a:solidFill>
              <a:srgbClr val="2E8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406640" y="3456432"/>
            <a:ext cx="457200" cy="0"/>
          </a:xfrm>
          <a:prstGeom prst="line">
            <a:avLst/>
          </a:prstGeom>
          <a:noFill/>
          <a:ln w="15875">
            <a:solidFill>
              <a:srgbClr val="2E8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377440" y="4343400"/>
            <a:ext cx="1463040" cy="1051560"/>
          </a:xfrm>
          <a:prstGeom prst="roundRect">
            <a:avLst>
              <a:gd name="adj" fmla="val 5217"/>
            </a:avLst>
          </a:prstGeom>
          <a:solidFill>
            <a:srgbClr val="12233B"/>
          </a:solidFill>
          <a:ln w="12700">
            <a:solidFill>
              <a:srgbClr val="3FB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377440" y="44805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1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77440" y="48006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DataNode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89120" y="4343400"/>
            <a:ext cx="1463040" cy="1051560"/>
          </a:xfrm>
          <a:prstGeom prst="roundRect">
            <a:avLst>
              <a:gd name="adj" fmla="val 5217"/>
            </a:avLst>
          </a:prstGeom>
          <a:solidFill>
            <a:srgbClr val="12233B"/>
          </a:solidFill>
          <a:ln w="12700">
            <a:solidFill>
              <a:srgbClr val="3FB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389120" y="44805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2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389120" y="48006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DataNode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0" y="4343400"/>
            <a:ext cx="1463040" cy="1051560"/>
          </a:xfrm>
          <a:prstGeom prst="roundRect">
            <a:avLst>
              <a:gd name="adj" fmla="val 5217"/>
            </a:avLst>
          </a:prstGeom>
          <a:solidFill>
            <a:srgbClr val="12233B"/>
          </a:solidFill>
          <a:ln w="12700">
            <a:solidFill>
              <a:srgbClr val="3FB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0" y="44805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00800" y="48006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DataNode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412480" y="4343400"/>
            <a:ext cx="1463040" cy="1051560"/>
          </a:xfrm>
          <a:prstGeom prst="roundRect">
            <a:avLst>
              <a:gd name="adj" fmla="val 5217"/>
            </a:avLst>
          </a:prstGeom>
          <a:solidFill>
            <a:srgbClr val="12233B"/>
          </a:solidFill>
          <a:ln w="12700">
            <a:solidFill>
              <a:srgbClr val="3FB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412480" y="44805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12480" y="48006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DataNode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26080" y="3840480"/>
            <a:ext cx="0" cy="502920"/>
          </a:xfrm>
          <a:prstGeom prst="line">
            <a:avLst/>
          </a:prstGeom>
          <a:noFill/>
          <a:ln w="12700">
            <a:solidFill>
              <a:srgbClr val="93A8C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9052560" y="3840480"/>
            <a:ext cx="0" cy="502920"/>
          </a:xfrm>
          <a:prstGeom prst="line">
            <a:avLst/>
          </a:prstGeom>
          <a:noFill/>
          <a:ln w="12700">
            <a:solidFill>
              <a:srgbClr val="93A8C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22960" y="5577840"/>
            <a:ext cx="10698480" cy="1005840"/>
          </a:xfrm>
          <a:prstGeom prst="rect">
            <a:avLst/>
          </a:prstGeom>
          <a:solidFill>
            <a:srgbClr val="0E1C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22960" y="5577840"/>
            <a:ext cx="54864" cy="1005840"/>
          </a:xfrm>
          <a:prstGeom prst="rect">
            <a:avLst/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097280" y="570585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DIAGRAM TOP TO BOTTOM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097280" y="5980176"/>
            <a:ext cx="10149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Meera watches both managers. Priya and Arjun stay in sync via the shared logbook. Both are connected to the same shelves — only the active one actually serves requests.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SESSION 3 · THE TWO MANAGERS OF QUICKKART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Story → real component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character, mapped to Hadoop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4572001"/>
        </p:xfrm>
        <a:graphic>
          <a:graphicData uri="http://schemas.openxmlformats.org/drawingml/2006/table">
            <a:tbl>
              <a:tblPr/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3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AEE3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character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C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AEE3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component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C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AEE3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they actually 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C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3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Priya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NameNode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Serves all client requests; holds the live metadata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3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Arjun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A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Standby NameNode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A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Mirrors metadata in real time; never serves clients until promoted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A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3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shared triplicate logbook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JournalNode quorum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Stores the shared edit log both NameNodes read/write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3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Meera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A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ZooKeeper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A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Monitors health, triggers automatic failover, prevents two actives at once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A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3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Locking Priya out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Fencing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Prevents split-brain — two NameNodes both believing they're active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3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shelves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A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DataNodes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A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the actual data blocks; unaffected by which NameNode is active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A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SESSION 3 · THE TWO MANAGERS OF QUICKKART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Four questions to work through as a class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 on where the fix could still break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7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755648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QuickKart need Meera at all — why can't Arjun just decide for himself when to take over?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7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2944368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happen if QuickKart had Arjun but no Meera — just two managers, no referee?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7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4133088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Priya failing a DataNode-style failure in disguise, or a different kind of failure entirely? Why?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53492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7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5321808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 for a classmate who asks “what happens if the master dies?” — what would you say now?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SESSION 3 · THE TWO MANAGERS OF QUICKKART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331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lost. But nothing is reachable 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4B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until a shadow standby, kept in sync, gets promoted by a neutral referee.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NameNode High Availability — Priya, Arjun, and Meera, in one sentence.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1504</Words>
  <Application>Microsoft Macintosh PowerPoint</Application>
  <PresentationFormat>Custom</PresentationFormat>
  <Paragraphs>230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Ab Sark</cp:lastModifiedBy>
  <cp:revision>3</cp:revision>
  <dcterms:created xsi:type="dcterms:W3CDTF">2026-07-11T05:56:38Z</dcterms:created>
  <dcterms:modified xsi:type="dcterms:W3CDTF">2026-07-15T05:50:01Z</dcterms:modified>
</cp:coreProperties>
</file>