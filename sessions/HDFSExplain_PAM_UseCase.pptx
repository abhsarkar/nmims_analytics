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70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(BUSINESS ANALYTICS) 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Managers of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B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QuickKart's North Warehouse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High Availability &amp; ZooKeeper, told as a story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50208"/>
            <a:ext cx="822960" cy="4572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233B"/>
          </a:solidFill>
          <a:ln w="190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4343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233B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4343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233B"/>
          </a:solidFill>
          <a:ln w="19050">
            <a:solidFill>
              <a:srgbClr val="8B7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7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Abhishek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warehouse world from Session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warehouse manager, one point of failure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QuickKart's North region warehouse runs on one manager, Priya. She's the only person who knows exactly which shelf holds which item — and that's about to become a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108960" cy="3017520"/>
          </a:xfrm>
          <a:prstGeom prst="roundRect">
            <a:avLst>
              <a:gd name="adj" fmla="val 2727"/>
            </a:avLst>
          </a:prstGeom>
          <a:solidFill>
            <a:srgbClr val="12233B"/>
          </a:solidFill>
          <a:ln w="22225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3108960" cy="256032"/>
          </a:xfrm>
          <a:prstGeom prst="rect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master ledger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456432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0F3A2C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her ledger and tells workers where to go the moment a delivery truck needs loading.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2918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0E1C30"/>
          </a:solidFill>
          <a:ln w="12700">
            <a:solidFill>
              <a:srgbClr val="223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Priya's ledger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shelf holds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65176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32520" y="265176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325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515600" y="265176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806440"/>
            <a:ext cx="10698480" cy="77724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59344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TERMS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7280" y="6208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Priya's ledger = the NameNode. The shelves = the DataNodes. This is exactly the mapping from Session 2 — nothing new yet.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Tuesday morning...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doesn't show 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not answering her phone. The shelves are all still full — nothing was lost — but nobody else knows how to read her ledger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108960" cy="3017520"/>
          </a:xfrm>
          <a:prstGeom prst="roundRect">
            <a:avLst>
              <a:gd name="adj" fmla="val 2727"/>
            </a:avLst>
          </a:prstGeom>
          <a:solidFill>
            <a:srgbClr val="12233B"/>
          </a:solidFill>
          <a:ln w="22225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E053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3108960" cy="256032"/>
          </a:xfrm>
          <a:prstGeom prst="rect">
            <a:avLst/>
          </a:prstGeom>
          <a:solidFill>
            <a:srgbClr val="E053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Unresponsive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456432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3A1A1A"/>
          </a:solidFill>
          <a:ln w="1270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answering. Ledger is unreadable to anyone else.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2918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3A1A1A"/>
          </a:solidFill>
          <a:ln w="1270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Priya's ledger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—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else can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65176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full 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32520" y="265176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325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3252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full 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515600" y="265176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full ✓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806440"/>
            <a:ext cx="10698480" cy="777240"/>
          </a:xfrm>
          <a:prstGeom prst="rect">
            <a:avLst/>
          </a:prstGeom>
          <a:solidFill>
            <a:srgbClr val="3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E053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59344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3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TRUCKS SIT IDLE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97280" y="6208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shows “unable to process orders in North region” — even though every item customers want is physically sitting on a shelf ten feet away.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SO FAR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this is different from a shelf failing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fine. The knowledge of where it is isn't.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0E1C30"/>
          </a:solidFill>
          <a:ln w="1905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24028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i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happens when a NameNode dies with no backup plan: the data is physically intact, but the map to find anything just vanished with one person.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2233B"/>
          </a:solidFill>
          <a:ln w="1905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shelf goes missing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Survivable — replication means the item exists on another shelf too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4114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2233B"/>
          </a:solidFill>
          <a:ln w="1905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4297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goes missing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survivable by default — nobody else can read the ledger at all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FIX, PART 1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QuickKart hires a second manager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Arjun — the shadow manager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the same building, watching over Priya's shoulder all day, every day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Priya updates her ledger, Arjun copies that same update into his own ledger in real time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never makes decisions himself, never talks to the delivery trucks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just silently stays perfectly in sync — ready to take over the instant something happens to Priya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3200400" cy="4023360"/>
          </a:xfrm>
          <a:prstGeom prst="roundRect">
            <a:avLst>
              <a:gd name="adj" fmla="val 2571"/>
            </a:avLst>
          </a:prstGeom>
          <a:solidFill>
            <a:srgbClr val="12233B"/>
          </a:solidFill>
          <a:ln w="22225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0" y="1984248"/>
            <a:ext cx="3200400" cy="256032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manager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0" y="2724912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A2E1A"/>
          </a:solidFill>
          <a:ln w="1270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2724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3200400"/>
            <a:ext cx="2834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every ledger update from Priya, in real time, but never speaks to a truck.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10698480" cy="77724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59344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TERMS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6208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= the Standby NameNode. He mirrors metadata continuously but never serves client requests until he's promoted.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FIX, PART 1 (CONTINUED)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How the copying actually happens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logbook between them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and Arjun don't just trust each other's memory — every update passes through a shared logbook, kept in triplicate across three separate rooms, so even losing one copy doesn't lose the updates.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12233B"/>
          </a:solidFill>
          <a:ln w="22225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2651760" cy="502920"/>
          </a:xfrm>
          <a:prstGeom prst="roundRect">
            <a:avLst>
              <a:gd name="adj" fmla="val 16364"/>
            </a:avLst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2651760" cy="256032"/>
          </a:xfrm>
          <a:prstGeom prst="rect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63931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0F3A2C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0" y="265176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12233B"/>
          </a:solidFill>
          <a:ln w="22225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0" y="2651760"/>
            <a:ext cx="2651760" cy="502920"/>
          </a:xfrm>
          <a:prstGeom prst="roundRect">
            <a:avLst>
              <a:gd name="adj" fmla="val 16364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0" y="2898648"/>
            <a:ext cx="2651760" cy="256032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0" y="2651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69680" y="363931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3A2E1A"/>
          </a:solidFill>
          <a:ln w="1270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320040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12233B"/>
          </a:solidFill>
          <a:ln w="1270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776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320040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12233B"/>
          </a:solidFill>
          <a:ln w="1270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320040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12233B"/>
          </a:solidFill>
          <a:ln w="1270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6616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JournalNode quorum (×3 rooms)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806440"/>
            <a:ext cx="10698480" cy="77724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59344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TERMS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97280" y="6208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JournalNode quorum — usually 3 or 5 nodes in production — the shared edit log both NameNodes read and write to stay in sync.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Who decides Priya is really gone?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Arjun jumps in too early...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3A2E1A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1488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Priya actually gone, or just on a coffee break?” If Arjun self-promotes based on a guess, QuickKart now has two managers giving conflicting instructions to the same warehouse — chaos of a different kind.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3794760"/>
            <a:ext cx="2926080" cy="2286000"/>
          </a:xfrm>
          <a:prstGeom prst="roundRect">
            <a:avLst>
              <a:gd name="adj" fmla="val 3600"/>
            </a:avLst>
          </a:prstGeom>
          <a:solidFill>
            <a:srgbClr val="12233B"/>
          </a:solidFill>
          <a:ln w="22225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3794760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4041648"/>
            <a:ext cx="2926080" cy="256032"/>
          </a:xfrm>
          <a:prstGeom prst="rect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54480" y="4782312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3A2E1A"/>
          </a:solidFill>
          <a:ln w="1270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4782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 OR DOWN?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3794760"/>
            <a:ext cx="2926080" cy="2286000"/>
          </a:xfrm>
          <a:prstGeom prst="roundRect">
            <a:avLst>
              <a:gd name="adj" fmla="val 3600"/>
            </a:avLst>
          </a:prstGeom>
          <a:solidFill>
            <a:srgbClr val="12233B"/>
          </a:solidFill>
          <a:ln w="22225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63840" y="3794760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63840" y="4041648"/>
            <a:ext cx="2926080" cy="256032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4782312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3A2E1A"/>
          </a:solidFill>
          <a:ln w="1270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0" y="4782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NOW?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6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Conflicting instructions 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FIX, PART 2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QuickKart hires a building supervisor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Meera — the referee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manage inventory. Doesn't touch the ledger.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entire job: check in on Priya every few seconds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“Priya, you good?” — “Yes” — “okay, carry on” — repeat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◆"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Priya stops responding for real, Meera makes the call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3200400" cy="4023360"/>
          </a:xfrm>
          <a:prstGeom prst="roundRect">
            <a:avLst>
              <a:gd name="adj" fmla="val 2571"/>
            </a:avLst>
          </a:prstGeom>
          <a:solidFill>
            <a:srgbClr val="12233B"/>
          </a:solidFill>
          <a:ln w="22225">
            <a:solidFill>
              <a:srgbClr val="8B7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8B7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0" y="1984248"/>
            <a:ext cx="3200400" cy="256032"/>
          </a:xfrm>
          <a:prstGeom prst="rect">
            <a:avLst/>
          </a:prstGeom>
          <a:solidFill>
            <a:srgbClr val="8B7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supervisor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0" y="2724912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A2148"/>
          </a:solidFill>
          <a:ln w="12700">
            <a:solidFill>
              <a:srgbClr val="8B7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2724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3200400"/>
            <a:ext cx="2834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between Priya and Arjun on a timer, checking health — never manages inventory herself.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10698480" cy="77724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59344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TERMS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6208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= ZooKeeper. A neutral, trusted coordination service that both NameNodes agree to defer to — solving the “who decides” problem from the last slide.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IT MATTERS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Detection → Lockout → Failover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Meera calls it, in seconds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0E1C30"/>
          </a:solidFill>
          <a:ln w="1905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60220" y="2423160"/>
            <a:ext cx="548640" cy="548640"/>
          </a:xfrm>
          <a:prstGeom prst="ellipse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602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checks 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“Priya, you there?” — silence.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0" y="21945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0E1C30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1980" y="2423160"/>
            <a:ext cx="548640" cy="548640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119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confirms failure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response. This is real, not a pause.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0E1C30"/>
          </a:solidFill>
          <a:ln w="1905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3740" y="2423160"/>
            <a:ext cx="548640" cy="548640"/>
          </a:xfrm>
          <a:prstGeom prst="ellipse">
            <a:avLst/>
          </a:prstGeom>
          <a:solidFill>
            <a:srgbClr val="E053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637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locks Priya 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she can't cause conflicts if she wakes up.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778240" y="21945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0E1C30"/>
          </a:solidFill>
          <a:ln w="1905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15500" y="2423160"/>
            <a:ext cx="548640" cy="548640"/>
          </a:xfrm>
          <a:prstGeom prst="ellipse">
            <a:avLst/>
          </a:prstGeom>
          <a:solidFill>
            <a:srgbClr val="3FB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155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1540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promotes Arjun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1540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D5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active now.”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5806440"/>
            <a:ext cx="10698480" cy="777240"/>
          </a:xfrm>
          <a:prstGeom prst="rect">
            <a:avLst/>
          </a:prstGeom>
          <a:solidFill>
            <a:srgbClr val="0F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" y="5806440"/>
            <a:ext cx="54864" cy="777240"/>
          </a:xfrm>
          <a:prstGeom prst="rect">
            <a:avLst/>
          </a:prstGeom>
          <a:solidFill>
            <a:srgbClr val="3FB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97280" y="59344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7280" y="6208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trucks start moving again. Most customers never even notice anything happened.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 PART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locking Priya out matters as much as promoting Arjun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Split-brain: the failure mode most people miss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Priya suddenly wakes back up, unaware Arjun took over, and tries to answer a truck's question at the exact same time as him?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56032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12233B"/>
          </a:solidFill>
          <a:ln w="22225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2560320"/>
            <a:ext cx="3291840" cy="502920"/>
          </a:xfrm>
          <a:prstGeom prst="roundRect">
            <a:avLst>
              <a:gd name="adj" fmla="val 16364"/>
            </a:avLst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2807208"/>
            <a:ext cx="3291840" cy="256032"/>
          </a:xfrm>
          <a:prstGeom prst="rect">
            <a:avLst/>
          </a:prstGeom>
          <a:solidFill>
            <a:srgbClr val="2E8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Woke up, doesn't know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71600" y="3547872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3A1A1A"/>
          </a:solidFill>
          <a:ln w="1270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5478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ANSWER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56032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12233B"/>
          </a:solidFill>
          <a:ln w="22225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0" y="2560320"/>
            <a:ext cx="3291840" cy="502920"/>
          </a:xfrm>
          <a:prstGeom prst="roundRect">
            <a:avLst>
              <a:gd name="adj" fmla="val 16364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2807208"/>
            <a:ext cx="3291840" cy="256032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active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0" y="3547872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3A1A1A"/>
          </a:solidFill>
          <a:ln w="12700">
            <a:solidFill>
              <a:srgbClr val="E0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0" y="35478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ANSWERING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3A6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question.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3A6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answers.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3A6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is right?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10698480" cy="1234440"/>
          </a:xfrm>
          <a:prstGeom prst="rect">
            <a:avLst/>
          </a:prstGeom>
          <a:solidFill>
            <a:srgbClr val="3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54864" cy="1234440"/>
          </a:xfrm>
          <a:prstGeom prst="rect">
            <a:avLst/>
          </a:prstGeom>
          <a:solidFill>
            <a:srgbClr val="E053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7280" y="54772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3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MEERA DOESN'T JUST PROMOTE — SHE FENCES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5751576"/>
            <a:ext cx="10149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didn't only tell Arjun “you're active.” She also actively locked Priya out. Promotion alone isn't enough — the old active has to be forcibly silenced, or split-brain like this becomes possible.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Everyone, in their final roles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NameNode High Availability,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0" y="17373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A2148"/>
          </a:solidFill>
          <a:ln w="19050">
            <a:solidFill>
              <a:srgbClr val="8B7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3776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(ZooKeeper)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2514600"/>
            <a:ext cx="0" cy="502920"/>
          </a:xfrm>
          <a:prstGeom prst="line">
            <a:avLst/>
          </a:prstGeom>
          <a:noFill/>
          <a:ln w="15875">
            <a:solidFill>
              <a:srgbClr val="93A8C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80760" y="2514600"/>
            <a:ext cx="1828800" cy="502920"/>
          </a:xfrm>
          <a:prstGeom prst="line">
            <a:avLst/>
          </a:prstGeom>
          <a:noFill/>
          <a:ln w="15875">
            <a:solidFill>
              <a:srgbClr val="93A8C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30632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F3A2C"/>
          </a:solidFill>
          <a:ln w="1905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 NameNode)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30632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3A2E1A"/>
          </a:solidFill>
          <a:ln w="190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(Standby NameNode)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2233B"/>
          </a:solidFill>
          <a:ln w="12700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logbook (JournalNodes)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456432"/>
            <a:ext cx="640080" cy="0"/>
          </a:xfrm>
          <a:prstGeom prst="line">
            <a:avLst/>
          </a:prstGeom>
          <a:noFill/>
          <a:ln w="15875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3456432"/>
            <a:ext cx="457200" cy="0"/>
          </a:xfrm>
          <a:prstGeom prst="line">
            <a:avLst/>
          </a:prstGeom>
          <a:noFill/>
          <a:ln w="15875">
            <a:solidFill>
              <a:srgbClr val="2E8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77440" y="434340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744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434340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434340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0" y="434340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12233B"/>
          </a:solidFill>
          <a:ln w="127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1248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3840480"/>
            <a:ext cx="0" cy="502920"/>
          </a:xfrm>
          <a:prstGeom prst="line">
            <a:avLst/>
          </a:prstGeom>
          <a:noFill/>
          <a:ln w="12700">
            <a:solidFill>
              <a:srgbClr val="93A8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52560" y="3840480"/>
            <a:ext cx="0" cy="502920"/>
          </a:xfrm>
          <a:prstGeom prst="line">
            <a:avLst/>
          </a:prstGeom>
          <a:noFill/>
          <a:ln w="12700">
            <a:solidFill>
              <a:srgbClr val="93A8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98480" cy="1005840"/>
          </a:xfrm>
          <a:prstGeom prst="rect">
            <a:avLst/>
          </a:prstGeom>
          <a:solidFill>
            <a:srgbClr val="0E1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" y="5577840"/>
            <a:ext cx="54864" cy="100584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57058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DIAGRAM TOP TO BOTTOM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7280" y="598017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watches both managers. Priya and Arjun stay in sync via the shared logbook. Both are connected to the same shelves — only the active one actually serves requests.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Story → real component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character, mapped to Hadoop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572001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character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E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actually 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NameNode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 all client requests; holds the live metadata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Standby NameNode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Mirrors metadata in real time; never serves clients until promoted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shared triplicate logbook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JournalNode quorum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shared edit log both NameNodes read/write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ZooKeeper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health, triggers automatic failover, prevents two actives at once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Locking Priya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Fencing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split-brain — two NameNodes both believing they're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shelves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DataNodes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8E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the actual data blocks; unaffected by which NameNode is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  </a:t>
            </a:r>
            <a:r>
              <a:rPr lang="en-US" sz="1400" b="1" kern="0" spc="100" dirty="0">
                <a:solidFill>
                  <a:srgbClr val="AE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Four questions to work through as a class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on where the fix could still break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556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QuickKart need Meera at all — why can't Arjun just decide for himself when to take over?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4436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QuickKart had Arjun but no Meera — just two managers, no referee?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13308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Priya failing a DataNode-style failure in disguise, or a different kind of failure entirely? Why?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532180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B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for a classmate who asks “what happens if the master dies?” — what would you say now?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SESSION 3 · THE TWO MANAGERS OF QUICKKART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2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lost. But nothing is reachable 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B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until a shadow standby, kept in sync, gets promoted by a neutral referee.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NameNode High Availability — Priya, Arjun, and Meera, in one sentence.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1501</Words>
  <Application>Microsoft Macintosh PowerPoint</Application>
  <PresentationFormat>Custom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JD Classes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 Classes</dc:title>
  <dc:subject>JD Classes</dc:subject>
  <dc:creator>JD Classes</dc:creator>
  <cp:keywords/>
  <dc:description/>
  <cp:lastModifiedBy>Ab Sark</cp:lastModifiedBy>
  <cp:revision>5</cp:revision>
  <dcterms:created xsi:type="dcterms:W3CDTF">2026-07-11T05:56:38Z</dcterms:created>
  <dcterms:modified xsi:type="dcterms:W3CDTF">2026-09-05T17:20:17Z</dcterms:modified>
  <cp:category/>
</cp:coreProperties>
</file>