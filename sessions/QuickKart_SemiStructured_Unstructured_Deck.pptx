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530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25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76323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(BUSINESS ANALYTICS) · TRIMESTER IV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Clean Rows: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E4B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Semi-Structured &amp; Unstructured Data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822960" y="340156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2E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case: QuickKart — nested order documents and free-text customer reviews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22960" y="3950208"/>
            <a:ext cx="822960" cy="45720"/>
          </a:xfrm>
          <a:prstGeom prst="rect">
            <a:avLst/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43434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DB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focus: Semi-structured JSON orders</a:t>
            </a:r>
            <a:endParaRPr lang="en-US" sz="15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a glance at: Unstructured customer reviews</a:t>
            </a:r>
            <a:endParaRPr lang="en-US" sz="15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Instructor: Abhishek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FITS   </a:t>
            </a:r>
            <a:r>
              <a:rPr lang="en-US" sz="1400" b="1" kern="0" spc="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The 3 data types, recapped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business, three shapes of 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QuickKart's own data doesn't come in one clean format. Same company, same warehouse story — three very different storage and analysis problems.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651760"/>
            <a:ext cx="3383280" cy="2926080"/>
          </a:xfrm>
          <a:prstGeom prst="roundRect">
            <a:avLst>
              <a:gd name="adj" fmla="val 2500"/>
            </a:avLst>
          </a:prstGeom>
          <a:solidFill>
            <a:srgbClr val="0E1C30"/>
          </a:solidFill>
          <a:ln w="19050">
            <a:solidFill>
              <a:srgbClr val="2E8B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05840" y="2834640"/>
            <a:ext cx="3017520" cy="365760"/>
          </a:xfrm>
          <a:prstGeom prst="roundRect">
            <a:avLst>
              <a:gd name="adj" fmla="val 15000"/>
            </a:avLst>
          </a:prstGeom>
          <a:solidFill>
            <a:srgbClr val="2E8B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3337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05840" y="3794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CSV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42519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columns, every row the same shape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434840" y="2651760"/>
            <a:ext cx="3383280" cy="2926080"/>
          </a:xfrm>
          <a:prstGeom prst="roundRect">
            <a:avLst>
              <a:gd name="adj" fmla="val 2500"/>
            </a:avLst>
          </a:prstGeom>
          <a:solidFill>
            <a:srgbClr val="0E1C30"/>
          </a:solidFill>
          <a:ln w="19050">
            <a:solidFill>
              <a:srgbClr val="C08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617720" y="2834640"/>
            <a:ext cx="3017520" cy="365760"/>
          </a:xfrm>
          <a:prstGeom prst="roundRect">
            <a:avLst>
              <a:gd name="adj" fmla="val 15000"/>
            </a:avLst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17720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 focus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17720" y="3337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Semi-structured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17720" y="3794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as JSON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17720" y="42519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fields, nested items, schema can drift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46720" y="2651760"/>
            <a:ext cx="3383280" cy="2926080"/>
          </a:xfrm>
          <a:prstGeom prst="roundRect">
            <a:avLst>
              <a:gd name="adj" fmla="val 2500"/>
            </a:avLst>
          </a:prstGeom>
          <a:solidFill>
            <a:srgbClr val="0E1C30"/>
          </a:solidFill>
          <a:ln w="19050">
            <a:solidFill>
              <a:srgbClr val="8B7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229600" y="2834640"/>
            <a:ext cx="3017520" cy="365760"/>
          </a:xfrm>
          <a:prstGeom prst="roundRect">
            <a:avLst>
              <a:gd name="adj" fmla="val 15000"/>
            </a:avLst>
          </a:prstGeom>
          <a:solidFill>
            <a:srgbClr val="8B72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229600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Glance today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0" y="3337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Unstructured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229600" y="3794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D2C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reviews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0" y="42519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text, no columns at all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SEMI-STRUCTURED &amp; UNSTRUCTURED DATA · QUICKKART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15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SEMI-STRUCTURED · BUSINESS CASE   </a:t>
            </a:r>
            <a:r>
              <a:rPr lang="en-US" sz="1400" b="1" kern="0" spc="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Why QuickKart's orders aren't flat rows in production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QuickKart's schema keeps changing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Midway through the year, QuickKart's checkout team added a promo_code field. Orders before that date simply don't have it — not even as a blank value. A rigid CSV can't represent that gracefully.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5029200" cy="2651760"/>
          </a:xfrm>
          <a:prstGeom prst="roundRect">
            <a:avLst>
              <a:gd name="adj" fmla="val 2759"/>
            </a:avLst>
          </a:prstGeom>
          <a:solidFill>
            <a:srgbClr val="3A1A1A"/>
          </a:solidFill>
          <a:ln w="19050">
            <a:solidFill>
              <a:srgbClr val="E053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5156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A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feature launch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33375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3C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3C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"order_id": 1,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3C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"region": "North",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3C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"items": [...]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3C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3C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 promo_code key at all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2743200"/>
            <a:ext cx="5029200" cy="2651760"/>
          </a:xfrm>
          <a:prstGeom prst="roundRect">
            <a:avLst>
              <a:gd name="adj" fmla="val 2759"/>
            </a:avLst>
          </a:prstGeom>
          <a:solidFill>
            <a:srgbClr val="0F3A2C"/>
          </a:solidFill>
          <a:ln w="19050">
            <a:solidFill>
              <a:srgbClr val="3FB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53796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feature launch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37960" y="33375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7EF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7EF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"order_id": 4001,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7EF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"region": "South",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7EF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"items": [...],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7EF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"promo_code": "FESTIVE20"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7EF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5623560"/>
            <a:ext cx="10515600" cy="868680"/>
          </a:xfrm>
          <a:prstGeom prst="rect">
            <a:avLst/>
          </a:prstGeom>
          <a:solidFill>
            <a:srgbClr val="0E1C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22960" y="5623560"/>
            <a:ext cx="54864" cy="868680"/>
          </a:xfrm>
          <a:prstGeom prst="rect">
            <a:avLst/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97280" y="5751576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SCHEMA-ON-READ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97280" y="6025896"/>
            <a:ext cx="9966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decide the structure when you store the data — you decide it when you query it. That's the core semi-structured idea.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SEMI-STRUCTURED &amp; UNSTRUCTURED DATA · QUICKKART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15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SEMI-STRUCTURED · CODE WALKTHROUGH   </a:t>
            </a:r>
            <a:r>
              <a:rPr lang="en-US" sz="1400" b="1" kern="0" spc="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Generating the order documents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order is a document, not a row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57607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◆"/>
            </a:pPr>
            <a:r>
              <a:rPr lang="en-US" sz="1550" dirty="0">
                <a:solidFill>
                  <a:srgbClr val="DB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 order documents, half without promo_code, half with it</a:t>
            </a:r>
            <a:endParaRPr lang="en-US" sz="1550" dirty="0"/>
          </a:p>
          <a:p>
            <a:pPr marL="228600" indent="-228600">
              <a:spcAft>
                <a:spcPts val="1200"/>
              </a:spcAft>
              <a:buSzPct val="100000"/>
              <a:buChar char="◆"/>
            </a:pPr>
            <a:r>
              <a:rPr lang="en-US" sz="1550" dirty="0">
                <a:solidFill>
                  <a:srgbClr val="DB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order has a nested items list — 1 to 4 products, variable length</a:t>
            </a:r>
            <a:endParaRPr lang="en-US" sz="1550" dirty="0"/>
          </a:p>
          <a:p>
            <a:pPr marL="228600" indent="-228600">
              <a:spcAft>
                <a:spcPts val="1200"/>
              </a:spcAft>
              <a:buSzPct val="100000"/>
              <a:buChar char="◆"/>
            </a:pPr>
            <a:r>
              <a:rPr lang="en-US" sz="1550" dirty="0">
                <a:solidFill>
                  <a:srgbClr val="DB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order also has a nested customer object (loyalty_tier)</a:t>
            </a:r>
            <a:endParaRPr lang="en-US" sz="1550" dirty="0"/>
          </a:p>
          <a:p>
            <a:pPr marL="228600" indent="-228600">
              <a:spcAft>
                <a:spcPts val="1200"/>
              </a:spcAft>
              <a:buSzPct val="100000"/>
              <a:buChar char="◆"/>
            </a:pPr>
            <a:r>
              <a:rPr lang="en-US" sz="1550" dirty="0">
                <a:solidFill>
                  <a:srgbClr val="DB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nesting is impossible to represent cleanly in one flat CSV row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766560" y="1737360"/>
            <a:ext cx="4754880" cy="3931920"/>
          </a:xfrm>
          <a:prstGeom prst="roundRect">
            <a:avLst>
              <a:gd name="adj" fmla="val 1395"/>
            </a:avLst>
          </a:prstGeom>
          <a:solidFill>
            <a:srgbClr val="0A1626"/>
          </a:solidFill>
          <a:ln w="12700">
            <a:solidFill>
              <a:srgbClr val="2236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967728" y="1883664"/>
            <a:ext cx="4352544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= {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"order_id": order_id,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"region": random.choice(regions),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"items": [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{"category": ..., "qty": ...,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"unit_price": ...}, ...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],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"customer": {"loyalty_tier": ...},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promo_field_exists: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order["promo_code"] = random.choice(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promo_codes)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10515600" cy="777240"/>
          </a:xfrm>
          <a:prstGeom prst="rect">
            <a:avLst/>
          </a:prstGeom>
          <a:solidFill>
            <a:srgbClr val="1B3A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22960" y="5806440"/>
            <a:ext cx="54864" cy="777240"/>
          </a:xfrm>
          <a:prstGeom prst="rect">
            <a:avLst/>
          </a:prstGeom>
          <a:solidFill>
            <a:srgbClr val="2E8B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97280" y="5934456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97280" y="6208776"/>
            <a:ext cx="9966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can be a list of 1 to 4 products — a variable-length nested field a rigid table simply cannot hold without extra join tables.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SEMI-STRUCTURED &amp; UNSTRUCTURED DATA · QUICKKART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15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SEMI-STRUCTURED · STORAGE   </a:t>
            </a:r>
            <a:r>
              <a:rPr lang="en-US" sz="1400" b="1" kern="0" spc="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JSON Lines, sharded across files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Storing documents the way a real document store would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JSON document per line (.jsonl), split across 2 shard files — mirroring how a document store spreads a collection across multiple physical files or nodes.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463040" y="2651760"/>
            <a:ext cx="4297680" cy="2103120"/>
          </a:xfrm>
          <a:prstGeom prst="roundRect">
            <a:avLst>
              <a:gd name="adj" fmla="val 3478"/>
            </a:avLst>
          </a:prstGeom>
          <a:solidFill>
            <a:srgbClr val="12233B"/>
          </a:solidFill>
          <a:ln w="19050">
            <a:solidFill>
              <a:srgbClr val="C08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691640" y="27889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shard1.jsonl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91640" y="32461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5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{"order_id": 1, ...}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5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{"order_id": 2, ...}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5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{"order_id": 3, ...}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5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0" y="2651760"/>
            <a:ext cx="4297680" cy="2103120"/>
          </a:xfrm>
          <a:prstGeom prst="roundRect">
            <a:avLst>
              <a:gd name="adj" fmla="val 3478"/>
            </a:avLst>
          </a:prstGeom>
          <a:solidFill>
            <a:srgbClr val="12233B"/>
          </a:solidFill>
          <a:ln w="19050">
            <a:solidFill>
              <a:srgbClr val="C08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629400" y="27889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shard2.jsonl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29400" y="32461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5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{"order_id": 1, ...}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5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{"order_id": 2, ...}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5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{"order_id": 3, ...}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5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463040" y="48463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4,000 documents each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0" y="48463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4,000 documents each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5806440"/>
            <a:ext cx="10515600" cy="777240"/>
          </a:xfrm>
          <a:prstGeom prst="rect">
            <a:avLst/>
          </a:prstGeom>
          <a:solidFill>
            <a:srgbClr val="0E1C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22960" y="5806440"/>
            <a:ext cx="54864" cy="777240"/>
          </a:xfrm>
          <a:prstGeom prst="rect">
            <a:avLst/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97280" y="5934456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AS HDFS BLOCKS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97280" y="6208776"/>
            <a:ext cx="9966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Splitting into shards mirrors the blocks/DataNodes concept from Notebook 1 — just applied to documents instead of CSV row-ranges.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SEMI-STRUCTURED &amp; UNSTRUCTURED DATA · QUICKKART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SEMI-STRUCTURED · READING THE DATA   </a:t>
            </a:r>
            <a:r>
              <a:rPr lang="en-US" sz="1400" b="1" kern="0" spc="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Flattening nested JSON into rows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Schema-on-read in action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309360" cy="4023360"/>
          </a:xfrm>
          <a:prstGeom prst="roundRect">
            <a:avLst>
              <a:gd name="adj" fmla="val 1364"/>
            </a:avLst>
          </a:prstGeom>
          <a:solidFill>
            <a:srgbClr val="0A1626"/>
          </a:solidFill>
          <a:ln w="12700">
            <a:solidFill>
              <a:srgbClr val="2236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41248" y="1837944"/>
            <a:ext cx="5907024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[]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order in all_orders: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item in order["items"]: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rows.append({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"order_id": order["order_id"],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"region": order["region"],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"promo_code": order.get(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"promo_code",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"FIELD_NOT_INTRODUCED_YET"),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"category": item["category"],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"revenue": item["qty"] *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item["unit_price"],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223760" y="1691640"/>
            <a:ext cx="4297680" cy="4023360"/>
          </a:xfrm>
          <a:prstGeom prst="roundRect">
            <a:avLst>
              <a:gd name="adj" fmla="val 1818"/>
            </a:avLst>
          </a:prstGeom>
          <a:solidFill>
            <a:srgbClr val="0E1C30"/>
          </a:solidFill>
          <a:ln w="12700">
            <a:solidFill>
              <a:srgbClr val="2236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06640" y="1828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.get() matters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06640" y="228600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code equivalent of saying: “if this document doesn't have this field, use a fallback instead of crashing.”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Defensive, field-may-or-may-not-exist coding is the everyday reality of semi-structured data.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item — order-level fields (region, promo_code) get repeated across each item row.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SEMI-STRUCTURED &amp; UNSTRUCTURED DATA · QUICKKART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SEMI-STRUCTURED · ANALYTICS   </a:t>
            </a:r>
            <a:r>
              <a:rPr lang="en-US" sz="1400" b="1" kern="0" spc="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Same Map→Shuffle→Reduce, applied to documents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MapReduce doesn't care that the source was nested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949440" cy="4023360"/>
          </a:xfrm>
          <a:prstGeom prst="roundRect">
            <a:avLst>
              <a:gd name="adj" fmla="val 1364"/>
            </a:avLst>
          </a:prstGeom>
          <a:solidFill>
            <a:srgbClr val="0A1626"/>
          </a:solidFill>
          <a:ln w="12700">
            <a:solidFill>
              <a:srgbClr val="2236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41248" y="1837944"/>
            <a:ext cx="6547104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map_shard_revenue(path):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shard = load_shard(path)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rows = []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order in shard: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item in order["items"]: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rows.append({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"category": item["category"],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"revenue": item["qty"] *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item["unit_price"]})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pd.DataFrame(rows).groupby(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"category")["revenue"].sum()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Pool(2) as pool: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partial = pool.map(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map_shard_revenue, shard_paths)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772400" y="1691640"/>
            <a:ext cx="3749040" cy="4023360"/>
          </a:xfrm>
          <a:prstGeom prst="rect">
            <a:avLst/>
          </a:prstGeom>
          <a:solidFill>
            <a:srgbClr val="1B3A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772400" y="1691640"/>
            <a:ext cx="54864" cy="4023360"/>
          </a:xfrm>
          <a:prstGeom prst="rect">
            <a:avLst/>
          </a:prstGeom>
          <a:solidFill>
            <a:srgbClr val="2E8B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046720" y="18196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046720" y="2093976"/>
            <a:ext cx="32004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Map flattens each shard's nested structure into flat key-value pairs, Shuffle and Reduce work exactly like Notebook 1 — pd.concat() + groupby().sum(). Nesting is a Map-time problem, not a Reduce-time problem.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SEMI-STRUCTURED &amp; UNSTRUCTURED DATA · QUICKKART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SEMI-STRUCTURED · BUSINESS ANSWER   </a:t>
            </a:r>
            <a:r>
              <a:rPr lang="en-US" sz="1400" b="1" kern="0" spc="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Answering a question that spans a schema change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 code adoption — even though the field didn't always exist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126480" cy="3749040"/>
          </a:xfrm>
          <a:prstGeom prst="roundRect">
            <a:avLst>
              <a:gd name="adj" fmla="val 1463"/>
            </a:avLst>
          </a:prstGeom>
          <a:solidFill>
            <a:srgbClr val="0A1626"/>
          </a:solidFill>
          <a:ln w="12700">
            <a:solidFill>
              <a:srgbClr val="2236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41248" y="1837944"/>
            <a:ext cx="5724144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has_promo_field = flat[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flat["promo_code"] !=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"FIELD_NOT_INTRODUCED_YET"]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promo_usage = has_promo_field[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"promo_code"].value_counts()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pct_orders_with_field = (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len(has_promo_field["order_id"]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.unique())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 flat["order_id"].nunique() * 100)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040880" y="1691640"/>
            <a:ext cx="4480560" cy="3749040"/>
          </a:xfrm>
          <a:prstGeom prst="roundRect">
            <a:avLst>
              <a:gd name="adj" fmla="val 1951"/>
            </a:avLst>
          </a:prstGeom>
          <a:solidFill>
            <a:srgbClr val="3A2E1A"/>
          </a:solidFill>
          <a:ln w="19050">
            <a:solidFill>
              <a:srgbClr val="C08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269480" y="18288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insight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269480" y="228600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0E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answered a question spanning a mid-year schema change without backfilling old records, running a database migration, or discarding history.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0E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exactly why fast-moving product teams lean on semi-structured storage instead of forcing every change through a rigid schema migration.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SEMI-STRUCTURED &amp; UNSTRUCTURED DATA · QUICKKART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15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  </a:t>
            </a:r>
            <a:r>
              <a:rPr lang="en-US" sz="1400" b="1" kern="0" spc="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Structured vs. semi-structured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changed, side by side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420624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1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C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AEE3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(CSV)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C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AEE3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Semi-structured (JSON)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C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— every row has every column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Flexible — fields can appear/disappear over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Nesting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A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flat rows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A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Supports nested objects/arrays (items list)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A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Schema enforcement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write (must match table structure)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read (structure decided at query time)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Real-world examples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A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RDBMS exports, clean CSVs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A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 documents, JSON APIs, log files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A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 tools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HDFS + Hive tables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HDFS + Hive w/ JSON SerDe, MongoDB, Spark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SEMI-STRUCTURED &amp; UNSTRUCTURED DATA · QUICKKART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15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NOW, A GLANCE   </a:t>
            </a:r>
            <a:r>
              <a:rPr lang="en-US" sz="1400" b="1" kern="0" spc="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The third data type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more shape of data: no structure at all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94560"/>
            <a:ext cx="10515600" cy="3108960"/>
          </a:xfrm>
          <a:prstGeom prst="roundRect">
            <a:avLst>
              <a:gd name="adj" fmla="val 2941"/>
            </a:avLst>
          </a:prstGeom>
          <a:solidFill>
            <a:srgbClr val="2A2148"/>
          </a:solidFill>
          <a:ln w="19050">
            <a:solidFill>
              <a:srgbClr val="8B7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188720" y="2560320"/>
            <a:ext cx="9784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i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QuickKart's customer support inbox is full of free-text reviews — no columns, no keys, no guaranteed structure at all. A computer has zero built-in understanding of what's inside a block of text until we impose structure ourselves.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88720" y="39776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D2C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80-90% of the data most companies generate — reviews, support tickets, chat logs, call transcripts, images — is unstructured.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SEMI-STRUCTURED &amp; UNSTRUCTURED DATA · QUICKKART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UNSTRUCTURED · AT A GLANCE   </a:t>
            </a:r>
            <a:r>
              <a:rPr lang="en-US" sz="1400" b="1" kern="0" spc="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MapReduce word count on customer reviews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classic starting point: word frequency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◆"/>
            </a:pPr>
            <a:r>
              <a:rPr lang="en-US" sz="1600" dirty="0">
                <a:solidFill>
                  <a:srgbClr val="DB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synthetic QuickKart reviews, stored as .txt files across 3 node folders — same storage pattern as Notebook 1, applied to raw text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◆"/>
            </a:pPr>
            <a:r>
              <a:rPr lang="en-US" sz="1600" dirty="0">
                <a:solidFill>
                  <a:srgbClr val="DB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Map: each node tokenizes and counts words in its own block, independently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◆"/>
            </a:pPr>
            <a:r>
              <a:rPr lang="en-US" sz="1600" dirty="0">
                <a:solidFill>
                  <a:srgbClr val="DB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+ Reduce: word counts merged into one global frequency table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◆"/>
            </a:pPr>
            <a:r>
              <a:rPr lang="en-US" sz="1600" dirty="0">
                <a:solidFill>
                  <a:srgbClr val="DB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like “late,” “damaged,” “crashing” surface near the top — zero fancy NLP needed to spot where the problems are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5212080"/>
            <a:ext cx="10515600" cy="1188720"/>
          </a:xfrm>
          <a:prstGeom prst="rect">
            <a:avLst/>
          </a:prstGeom>
          <a:solidFill>
            <a:srgbClr val="0E1C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22960" y="5212080"/>
            <a:ext cx="54864" cy="1188720"/>
          </a:xfrm>
          <a:prstGeom prst="rect">
            <a:avLst/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0" y="5340096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SAME PATTERN, A THIRD TIME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097280" y="5614416"/>
            <a:ext cx="9966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map_word_count() per node → Counter merged via update() → this is literally the same Map/Shuffle/Reduce structure from Notebooks 1 and 2, just applied to tokenized text instead of numeric rows.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SEMI-STRUCTURED &amp; UNSTRUCTURED DATA · QUICKKART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UNSTRUCTURED · AT A GLANCE   </a:t>
            </a:r>
            <a:r>
              <a:rPr lang="en-US" sz="1400" b="1" kern="0" spc="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From word counts to a business answer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lightweight complaint classifier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6035040" cy="3931920"/>
          </a:xfrm>
          <a:prstGeom prst="roundRect">
            <a:avLst>
              <a:gd name="adj" fmla="val 1395"/>
            </a:avLst>
          </a:prstGeom>
          <a:solidFill>
            <a:srgbClr val="0A1626"/>
          </a:solidFill>
          <a:ln w="12700">
            <a:solidFill>
              <a:srgbClr val="2236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41248" y="1883664"/>
            <a:ext cx="5632704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complaint_keywords = {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"late", "damaged", "wrong",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"crashing", "rude", "cancelled",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"rotten", "failed", "missing",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classify_review(text):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words = set(tokenize(text))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("Complaint" if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words &amp; complaint_keywords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E3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else "Non-complaint")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949440" y="1737360"/>
            <a:ext cx="4572000" cy="3931920"/>
          </a:xfrm>
          <a:prstGeom prst="roundRect">
            <a:avLst>
              <a:gd name="adj" fmla="val 1860"/>
            </a:avLst>
          </a:prstGeom>
          <a:solidFill>
            <a:srgbClr val="0E1C30"/>
          </a:solidFill>
          <a:ln w="12700">
            <a:solidFill>
              <a:srgbClr val="2236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178040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2C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output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178040" y="2331720"/>
            <a:ext cx="4114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Overall complaint rate across all reviews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Complaint rate broken down by product category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D5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bar chart pointing support leadership straight at the worst category — without anyone reading all 900 reviews by hand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178040" y="4526280"/>
            <a:ext cx="4114800" cy="1005840"/>
          </a:xfrm>
          <a:prstGeom prst="roundRect">
            <a:avLst>
              <a:gd name="adj" fmla="val 5455"/>
            </a:avLst>
          </a:prstGeom>
          <a:solidFill>
            <a:srgbClr val="3A1A1A"/>
          </a:solidFill>
          <a:ln w="12700">
            <a:solidFill>
              <a:srgbClr val="E053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60920" y="46177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F3A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 flagged in the notebook: keyword matching misses sarcasm, polite-but-negative phrasing, and anything outside the exact keyword list.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SEMI-STRUCTURED &amp; UNSTRUCTURED DATA · QUICKKART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RECAP   </a:t>
            </a:r>
            <a:r>
              <a:rPr lang="en-US" sz="1400" b="1" kern="0" spc="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All three data types, side by side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Effort before you can even ask a question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429768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162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C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AEE3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C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AEE3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Semi-structured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C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AEE3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C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 CSV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Nested JSON orders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Free-text reviews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A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Fixed, known upfront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A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Flexible, key-value shaped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A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plain text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A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Effort before analysis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already tabular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Flatten nested structure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Tokenize, clean, classify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analytics step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A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groupby / aggregation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A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json_normalize + groupby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A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 count → keyword rules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A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Tools at scale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Hive, SQL-on-Hadoop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Spark JSON, MongoDB, Hive SerDe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D8E5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Spark NLP, Elasticsearch, LLMs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6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1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SEMI-STRUCTURED &amp; UNSTRUCTURED DATA · QUICKKART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  </a:t>
            </a:r>
            <a:r>
              <a:rPr lang="en-US" sz="1400" b="1" kern="0" spc="100" dirty="0">
                <a:solidFill>
                  <a:srgbClr val="AE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Questions spanning both notebooks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Push on where each format's assumptions break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7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755648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DB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have broken if QuickKart stored order data in a single rigid CSV from day one, before the promo code feature existed?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7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2944368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DB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hidden cost of schema-on-read flexibility? (Think about every query needing to handle missing fields defensively.)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7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71600" y="4133088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DB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QuickKart had 50 million reviews instead of 900, which part of the word-count notebook would need a real cluster instead of a laptop?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534924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5349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7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5321808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DB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effort required before you can ask a business question across all three notebooks — what does that tell you about project cost and timelines?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SEMI-STRUCTURED &amp; UNSTRUCTURED DATA · QUICKKART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4B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AF2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questions. Three very different starting points.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365760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93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isn't a technical detail — it's the difference between an answer in seconds and a project that takes months.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5575</TotalTime>
  <Words>2008</Words>
  <Application>Microsoft Macintosh PowerPoint</Application>
  <PresentationFormat>Custom</PresentationFormat>
  <Paragraphs>263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Ab Sark</cp:lastModifiedBy>
  <cp:revision>3</cp:revision>
  <dcterms:created xsi:type="dcterms:W3CDTF">2026-07-11T07:54:55Z</dcterms:created>
  <dcterms:modified xsi:type="dcterms:W3CDTF">2026-08-07T18:53:14Z</dcterms:modified>
</cp:coreProperties>
</file>